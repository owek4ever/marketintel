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Scraper Ecosystem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6345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1BC"/>
                </a:solidFill>
              </a:rPr>
              <a:t>01  scraper architecture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DCE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crawling, extraction, SEO intelligence, and analytical storage are separate concerns joined by typed payloads and durable queues.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2C333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20482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" y="202082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941832" y="2313432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ingestion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103120" y="2295144"/>
            <a:ext cx="548640" cy="0"/>
          </a:xfrm>
          <a:prstGeom prst="line">
            <a:avLst/>
          </a:prstGeom>
          <a:noFill/>
          <a:ln w="13970">
            <a:solidFill>
              <a:srgbClr val="99F6E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192024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2C333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25496" y="20482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202082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2862072" y="2313432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dedupe, lease, retry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023360" y="2295144"/>
            <a:ext cx="548640" cy="0"/>
          </a:xfrm>
          <a:prstGeom prst="line">
            <a:avLst/>
          </a:prstGeom>
          <a:noFill/>
          <a:ln w="13970">
            <a:solidFill>
              <a:srgbClr val="99F6E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192024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2C333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5736" y="20482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46904" y="202082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782312" y="2313432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scrape loop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943600" y="2295144"/>
            <a:ext cx="548640" cy="0"/>
          </a:xfrm>
          <a:prstGeom prst="line">
            <a:avLst/>
          </a:prstGeom>
          <a:noFill/>
          <a:ln w="13970">
            <a:solidFill>
              <a:srgbClr val="99F6E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192024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2C333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65976" y="20482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02082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702552" y="2313432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browser/context pool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863840" y="2295144"/>
            <a:ext cx="548640" cy="0"/>
          </a:xfrm>
          <a:prstGeom prst="line">
            <a:avLst/>
          </a:prstGeom>
          <a:noFill/>
          <a:ln w="13970">
            <a:solidFill>
              <a:srgbClr val="99F6E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58200" y="192024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2C333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6216" y="20482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87384" y="202082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Extractors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8622792" y="2313432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SEO, classify, normalize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784080" y="2295144"/>
            <a:ext cx="365760" cy="0"/>
          </a:xfrm>
          <a:prstGeom prst="line">
            <a:avLst/>
          </a:prstGeom>
          <a:noFill/>
          <a:ln w="13970">
            <a:solidFill>
              <a:srgbClr val="99F6E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95560" y="192024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2C333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23576" y="20482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24744" y="202082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0360152" y="2313432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results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960120" y="370332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252B31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8136" y="38313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9304" y="38039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1124712" y="409651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pages, snapshots, products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645920" y="2761488"/>
            <a:ext cx="0" cy="914400"/>
          </a:xfrm>
          <a:prstGeom prst="line">
            <a:avLst/>
          </a:prstGeom>
          <a:noFill/>
          <a:ln w="1270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657600" y="370332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252B31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85616" y="38313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86784" y="38039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3822192" y="409651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 embeddings, HNSW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343400" y="2761488"/>
            <a:ext cx="0" cy="914400"/>
          </a:xfrm>
          <a:prstGeom prst="line">
            <a:avLst/>
          </a:prstGeom>
          <a:noFill/>
          <a:ln w="1270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355080" y="370332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252B31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83096" y="38313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84264" y="38039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TimescaleDB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6519672" y="409651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metrics, hypertables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7040880" y="2761488"/>
            <a:ext cx="0" cy="914400"/>
          </a:xfrm>
          <a:prstGeom prst="line">
            <a:avLst/>
          </a:prstGeom>
          <a:noFill/>
          <a:ln w="1270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052560" y="370332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252B31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80576" y="38313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81744" y="38039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Materialized Views</a:t>
            </a:r>
            <a:endParaRPr lang="en-US" sz="1040" dirty="0"/>
          </a:p>
        </p:txBody>
      </p:sp>
      <p:sp>
        <p:nvSpPr>
          <p:cNvPr id="52" name="Text 50"/>
          <p:cNvSpPr/>
          <p:nvPr/>
        </p:nvSpPr>
        <p:spPr>
          <a:xfrm>
            <a:off x="9217152" y="409651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8D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scores, gaps, forecasts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738360" y="2761488"/>
            <a:ext cx="0" cy="914400"/>
          </a:xfrm>
          <a:prstGeom prst="line">
            <a:avLst/>
          </a:prstGeom>
          <a:noFill/>
          <a:ln w="1270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749808" y="5257800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Detected stack: Python 3.14 project metadata, FastAPI, Redis asyncio, Playwright, SeleniumBase dependency, BeautifulSoup/lxml, markdownify, httpx, Docker Compose, Prometheus, PostgreSQL, pgvector/vectorscale, TimescaleDB.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Service 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BOUNDARIES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868680"/>
            <a:ext cx="10881360" cy="1078992"/>
          </a:xfrm>
          <a:prstGeom prst="roundRect">
            <a:avLst>
              <a:gd name="adj" fmla="val 508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9784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240280"/>
            <a:ext cx="10881360" cy="1078992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500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4050792"/>
            <a:ext cx="10881360" cy="1078992"/>
          </a:xfrm>
          <a:prstGeom prst="roundRect">
            <a:avLst>
              <a:gd name="adj" fmla="val 5085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1605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+ Output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48840" y="100584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76856" y="11338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8024" y="1106424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2313432" y="1399032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/frontier/urls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/batch and status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069080" y="100584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97096" y="11338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98264" y="110642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FrontierManager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233672" y="139903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normalizes URL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deterministic id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263640" y="100584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1656" y="11338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11064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Keys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428232" y="13990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seen, queues, zsets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records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657600" y="1335024"/>
            <a:ext cx="4114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60720" y="1335024"/>
            <a:ext cx="5029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51560" y="2542032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9576" y="267004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0744" y="264261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Loop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1216152" y="293522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leases URL and owns ack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154680" y="2542032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82696" y="267004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264261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Pool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3319272" y="293522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context checkout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257800" y="2542032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85816" y="267004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86984" y="264261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Fetch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5422392" y="293522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networkidle plus assets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7360920" y="2542032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88936" y="267004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0104" y="264261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7525512" y="293522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expired leases to retry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2697480" y="2935224"/>
            <a:ext cx="45720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800600" y="2935224"/>
            <a:ext cx="45720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903720" y="2935224"/>
            <a:ext cx="45720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51560" y="4352544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79576" y="44805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80744" y="445312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 Report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1216152" y="47457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on-page, technical, content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3154680" y="4352544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82696" y="44805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83864" y="445312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040" dirty="0"/>
          </a:p>
        </p:txBody>
      </p:sp>
      <p:sp>
        <p:nvSpPr>
          <p:cNvPr id="53" name="Text 51"/>
          <p:cNvSpPr/>
          <p:nvPr/>
        </p:nvSpPr>
        <p:spPr>
          <a:xfrm>
            <a:off x="3319272" y="47457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type and signals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5257800" y="4352544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85816" y="44805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6984" y="445312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Extractor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5422392" y="47457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or content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7360920" y="4352544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88936" y="44805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90104" y="445312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</a:t>
            </a:r>
            <a:endParaRPr lang="en-US" sz="1040" dirty="0"/>
          </a:p>
        </p:txBody>
      </p:sp>
      <p:sp>
        <p:nvSpPr>
          <p:cNvPr id="61" name="Text 59"/>
          <p:cNvSpPr/>
          <p:nvPr/>
        </p:nvSpPr>
        <p:spPr>
          <a:xfrm>
            <a:off x="7525512" y="47457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by job_type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9464040" y="4352544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92056" y="44805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93224" y="445312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SQL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9628632" y="47457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schemas for analytics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2697480" y="4745736"/>
            <a:ext cx="4572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800600" y="4745736"/>
            <a:ext cx="4572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903720" y="4745736"/>
            <a:ext cx="4572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006840" y="4745736"/>
            <a:ext cx="4572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694944" y="58795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crawler is intentionally thin at runtime: persistent analytics are downstream concerns, while the worker produces typed payloads suitable for an external orchestrator.</a:t>
            </a:r>
            <a:endParaRPr lang="en-US" sz="1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Redis Frontier Scheduling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POLITE DISTRIBUTED CRAWL QUEUE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143000"/>
            <a:ext cx="3246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143000"/>
            <a:ext cx="7315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27101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seen_urls:{id}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77824" y="157276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TTL dedupe by normalized URL hash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416552" y="1143000"/>
            <a:ext cx="3246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143000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27101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domain_queue:{domain}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581144" y="157276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per-domain pending URL list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8119872" y="1143000"/>
            <a:ext cx="3246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14300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27101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ready_domains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284464" y="157276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ZSET score = next eligible time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713232" y="2221992"/>
            <a:ext cx="3246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2221992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23500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inflight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877824" y="2651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payload per URL id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4416552" y="2221992"/>
            <a:ext cx="3246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6552" y="2221992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23500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retry_schedule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581144" y="2651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ZSET score = retry timestamp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8119872" y="2221992"/>
            <a:ext cx="3246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2221992"/>
            <a:ext cx="73152" cy="804672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84464" y="23500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284464" y="2651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dead-letter payloads after max retries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841248" y="4279392"/>
            <a:ext cx="214884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264" y="44074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37997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Add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1005840" y="4672584"/>
            <a:ext cx="18928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NX dedupe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HSET metadata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LPUSH/RPUSH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990088" y="4754880"/>
            <a:ext cx="39319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584448" y="4279392"/>
            <a:ext cx="214884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12464" y="44074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13632" y="437997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Lease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3749040" y="4672584"/>
            <a:ext cx="18928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Lua selects ready domain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domain inflight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deadline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733288" y="4754880"/>
            <a:ext cx="39319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327648" y="4279392"/>
            <a:ext cx="214884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55664" y="440740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437997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Complete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6492240" y="4672584"/>
            <a:ext cx="18928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clears inflight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completed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reactivates queue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476488" y="4754880"/>
            <a:ext cx="39319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070848" y="4279392"/>
            <a:ext cx="214884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98864" y="4407408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00032" y="437997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Fail/Recover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9235440" y="4672584"/>
            <a:ext cx="18928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exponential backoff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zset or DLQ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86384" y="57424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Redis Lua: queue mutation, lease registration, retry state, and domain limits change together, avoiding race conditions across many workers.</a:t>
            </a:r>
            <a:endParaRPr lang="en-US" sz="10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Crawl Task Lifecycle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LEASE TO TYPED RESULT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04088" y="13258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9427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7007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URL</a:t>
            </a:r>
            <a:endParaRPr lang="en-US" sz="1010" dirty="0"/>
          </a:p>
        </p:txBody>
      </p:sp>
      <p:sp>
        <p:nvSpPr>
          <p:cNvPr id="10" name="Text 8"/>
          <p:cNvSpPr/>
          <p:nvPr/>
        </p:nvSpPr>
        <p:spPr>
          <a:xfrm>
            <a:off x="612648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get_next_url(wait=True)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1060704" y="1481328"/>
            <a:ext cx="1088136" cy="0"/>
          </a:xfrm>
          <a:prstGeom prst="line">
            <a:avLst/>
          </a:prstGeom>
          <a:noFill/>
          <a:ln w="1143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13258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39427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86000" y="17007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Page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2240280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page.goto(networkidle)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2688336" y="1481328"/>
            <a:ext cx="1088136" cy="0"/>
          </a:xfrm>
          <a:prstGeom prst="line">
            <a:avLst/>
          </a:prstGeom>
          <a:noFill/>
          <a:ln w="1143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59352" y="13258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139427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13632" y="17007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Signals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3867912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HTML, title, assets, performance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4315968" y="1481328"/>
            <a:ext cx="1088136" cy="0"/>
          </a:xfrm>
          <a:prstGeom prst="line">
            <a:avLst/>
          </a:prstGeom>
          <a:noFill/>
          <a:ln w="1143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86984" y="13258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6984" y="139427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41264" y="17007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SEO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5495544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OnPage + Technical + Content + scores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5943600" y="1481328"/>
            <a:ext cx="1088136" cy="0"/>
          </a:xfrm>
          <a:prstGeom prst="line">
            <a:avLst/>
          </a:prstGeom>
          <a:noFill/>
          <a:ln w="1143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14616" y="13258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14616" y="139427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68896" y="17007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7123176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PageType and metadata signals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7571232" y="1481328"/>
            <a:ext cx="1088136" cy="0"/>
          </a:xfrm>
          <a:prstGeom prst="line">
            <a:avLst/>
          </a:prstGeom>
          <a:noFill/>
          <a:ln w="1143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842248" y="13258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42248" y="139427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796528" y="17007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8750808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list, detail, or content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9198864" y="1481328"/>
            <a:ext cx="1088136" cy="0"/>
          </a:xfrm>
          <a:prstGeom prst="line">
            <a:avLst/>
          </a:prstGeom>
          <a:noFill/>
          <a:ln w="1143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469880" y="13258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69880" y="139427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424160" y="17007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</a:t>
            </a:r>
            <a:endParaRPr lang="en-US" sz="1010" dirty="0"/>
          </a:p>
        </p:txBody>
      </p:sp>
      <p:sp>
        <p:nvSpPr>
          <p:cNvPr id="40" name="Text 38"/>
          <p:cNvSpPr/>
          <p:nvPr/>
        </p:nvSpPr>
        <p:spPr>
          <a:xfrm>
            <a:off x="10378440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selected by job_type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804672" y="30632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" y="306324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" y="3191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sitemap crawl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969264" y="3493008"/>
            <a:ext cx="2560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SEO internalLinks classification for seed expansion. Sitemap discovery exists in extractors but is currently commented in main worker.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3886200" y="30632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86200" y="306324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0792" y="3191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list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4050792" y="3493008"/>
            <a:ext cx="2560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HybridPaginator when pagination is detected; otherwise extracts product links from current view.</a:t>
            </a:r>
            <a:endParaRPr lang="en-US" sz="910" dirty="0"/>
          </a:p>
        </p:txBody>
      </p:sp>
      <p:sp>
        <p:nvSpPr>
          <p:cNvPr id="49" name="Shape 47"/>
          <p:cNvSpPr/>
          <p:nvPr/>
        </p:nvSpPr>
        <p:spPr>
          <a:xfrm>
            <a:off x="6967728" y="306324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67728" y="306324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191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detail</a:t>
            </a:r>
            <a:endParaRPr lang="en-US" sz="1220" dirty="0"/>
          </a:p>
        </p:txBody>
      </p:sp>
      <p:sp>
        <p:nvSpPr>
          <p:cNvPr id="52" name="Text 50"/>
          <p:cNvSpPr/>
          <p:nvPr/>
        </p:nvSpPr>
        <p:spPr>
          <a:xfrm>
            <a:off x="7132320" y="3493008"/>
            <a:ext cx="2560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Normalizes title, price, currency, brand, images, SKU, availability, and markdown details.</a:t>
            </a:r>
            <a:endParaRPr lang="en-US" sz="910" dirty="0"/>
          </a:p>
        </p:txBody>
      </p:sp>
      <p:sp>
        <p:nvSpPr>
          <p:cNvPr id="53" name="Shape 51"/>
          <p:cNvSpPr/>
          <p:nvPr/>
        </p:nvSpPr>
        <p:spPr>
          <a:xfrm>
            <a:off x="10049256" y="3063240"/>
            <a:ext cx="12618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49256" y="306324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13848" y="3191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220" dirty="0"/>
          </a:p>
        </p:txBody>
      </p:sp>
      <p:sp>
        <p:nvSpPr>
          <p:cNvPr id="56" name="Text 54"/>
          <p:cNvSpPr/>
          <p:nvPr/>
        </p:nvSpPr>
        <p:spPr>
          <a:xfrm>
            <a:off x="10213848" y="3493008"/>
            <a:ext cx="9875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Extracts readable markdown after removing chrome.</a:t>
            </a:r>
            <a:endParaRPr lang="en-US" sz="910" dirty="0"/>
          </a:p>
        </p:txBody>
      </p:sp>
      <p:sp>
        <p:nvSpPr>
          <p:cNvPr id="57" name="Shape 55"/>
          <p:cNvSpPr/>
          <p:nvPr/>
        </p:nvSpPr>
        <p:spPr>
          <a:xfrm>
            <a:off x="822960" y="5074920"/>
            <a:ext cx="10469880" cy="530352"/>
          </a:xfrm>
          <a:prstGeom prst="roundRect">
            <a:avLst>
              <a:gd name="adj" fmla="val 10345"/>
            </a:avLst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0120" y="5221224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path: exception -&gt; fail_url(id, error) -&gt; retry_schedule with backoff -&gt; timed-out leases recovered by periodic recovery_loop.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 Pool And Stealth Runtime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HIGH-THROUGHPUT BROWSER REUSE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017520" cy="4389120"/>
          </a:xfrm>
          <a:prstGeom prst="roundRect">
            <a:avLst>
              <a:gd name="adj" fmla="val 1818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BrowserPool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1965960"/>
            <a:ext cx="2487168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09397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2066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instance 1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152144" y="2359152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round-robin proxy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on disconnect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207008" y="2624328"/>
            <a:ext cx="155448" cy="155448"/>
          </a:xfrm>
          <a:prstGeom prst="ellipse">
            <a:avLst/>
          </a:prstGeom>
          <a:solidFill>
            <a:srgbClr val="99F6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5376" y="2624328"/>
            <a:ext cx="155448" cy="155448"/>
          </a:xfrm>
          <a:prstGeom prst="ellipse">
            <a:avLst/>
          </a:prstGeom>
          <a:solidFill>
            <a:srgbClr val="99F6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3744" y="2624328"/>
            <a:ext cx="155448" cy="155448"/>
          </a:xfrm>
          <a:prstGeom prst="ellipse">
            <a:avLst/>
          </a:prstGeom>
          <a:solidFill>
            <a:srgbClr val="99F6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383280"/>
            <a:ext cx="2487168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35112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16736" y="348386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instance 2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152144" y="3776472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round-robin proxy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on disconnect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207008" y="4041648"/>
            <a:ext cx="155448" cy="155448"/>
          </a:xfrm>
          <a:prstGeom prst="ellipse">
            <a:avLst/>
          </a:prstGeom>
          <a:solidFill>
            <a:srgbClr val="99F6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5376" y="4041648"/>
            <a:ext cx="155448" cy="155448"/>
          </a:xfrm>
          <a:prstGeom prst="ellipse">
            <a:avLst/>
          </a:prstGeom>
          <a:solidFill>
            <a:srgbClr val="99F6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3744" y="4041648"/>
            <a:ext cx="155448" cy="155448"/>
          </a:xfrm>
          <a:prstGeom prst="ellipse">
            <a:avLst/>
          </a:prstGeom>
          <a:solidFill>
            <a:srgbClr val="99F6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3337560"/>
            <a:ext cx="8686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17720" y="265176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5736" y="277977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2752344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ContextSlot Queue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4782312" y="3044952"/>
            <a:ext cx="189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acquire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cookies, permissions, storage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recycle after max_pages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66560" y="3337560"/>
            <a:ext cx="77724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43800" y="265176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71816" y="277977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72984" y="2752344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Page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7708392" y="3044952"/>
            <a:ext cx="180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page per lease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on exit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unhealthy on error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875520" y="123444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0" y="1234440"/>
            <a:ext cx="7315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40112" y="13624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Stealth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10040112" y="16642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injects navigator.webdriver override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9875520" y="23317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0" y="233172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40112" y="24597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10040112" y="2761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disable launch arg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9875520" y="342900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75520" y="3429000"/>
            <a:ext cx="7315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40112" y="35570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10040112" y="38587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contexts, pages, restarts, recycles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9875520" y="452628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5520" y="4526280"/>
            <a:ext cx="73152" cy="841248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40112" y="46542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10040112" y="4956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storage reset on release</a:t>
            </a:r>
            <a:endParaRPr lang="en-US" sz="910" dirty="0"/>
          </a:p>
        </p:txBody>
      </p:sp>
      <p:sp>
        <p:nvSpPr>
          <p:cNvPr id="49" name="Text 47"/>
          <p:cNvSpPr/>
          <p:nvPr/>
        </p:nvSpPr>
        <p:spPr>
          <a:xfrm>
            <a:off x="731520" y="59893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pooling reduces launch overhead, but requires aggressive state reset and recycling to avoid cross-site contamination or poisoned contexts.</a:t>
            </a:r>
            <a:endParaRPr lang="en-US" sz="10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URL Discovery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ROBOTS, SITEMAPS, FALLBACK HOMEPAGE CRAWL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154533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517904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URL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33272" y="181051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root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926080" y="1837944"/>
            <a:ext cx="4114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1417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5576" y="154533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517904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robots.txt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3502152" y="181051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Sitemap directives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disallowed paths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394960" y="1837944"/>
            <a:ext cx="4114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1417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34456" y="154533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1517904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Sitemap XML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5971032" y="181051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urlset or sitemapindex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queue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863840" y="1837944"/>
            <a:ext cx="4114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75320" y="1417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03336" y="15453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04504" y="1517904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Classified URLs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8439912" y="181051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category,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blog, rules, etc.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370832" y="2258568"/>
            <a:ext cx="0" cy="804672"/>
          </a:xfrm>
          <a:prstGeom prst="line">
            <a:avLst/>
          </a:prstGeom>
          <a:noFill/>
          <a:ln w="1524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498848" y="26060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sitemap or empty sitemap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246120" y="315468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74136" y="3282696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325526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Fallback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3410712" y="354787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nav/header/main/li links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same-host filter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532120" y="3593592"/>
            <a:ext cx="2743200" cy="-1444752"/>
          </a:xfrm>
          <a:prstGeom prst="line">
            <a:avLst/>
          </a:prstGeom>
          <a:noFill/>
          <a:ln w="1524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68680" y="457200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457200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" y="47000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Sitemap-name hints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1033272" y="50017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product-sitemap, category-sitemap, page/post skip patterns override URL heuristics.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4389120" y="457200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4572000"/>
            <a:ext cx="7315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47000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heuristics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4553712" y="50017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French and English product/category/blog/about/contact/auth/rules patterns.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7909560" y="457200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457200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74152" y="47000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rules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8074152" y="50017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shop/boutique/cat/produits paths become product only after deeper slug paths.</a:t>
            </a:r>
            <a:endParaRPr lang="en-US" sz="9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Classification Engine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HIERARCHY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86384" y="123444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23444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6245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type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50976" y="16642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product/category/blog/about/contact/auth/rules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471416" y="123444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1416" y="1234440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36245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JSON-LD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36008" y="16642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Breadcrumb, Organization graph nodes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8156448" y="123444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1234440"/>
            <a:ext cx="7315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36245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tags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321040" y="16642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og/product/twitter metadata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786384" y="2359152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2359152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24871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controls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50976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filters, search inputs, pagination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4471416" y="2359152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1416" y="2359152"/>
            <a:ext cx="7315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4871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 signals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636008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heading match, related sections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8156448" y="2359152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2359152"/>
            <a:ext cx="73152" cy="841248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24871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markers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321040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tags, article dates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786384" y="4279392"/>
            <a:ext cx="1444752" cy="457200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4407408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2633472" y="4279392"/>
            <a:ext cx="1444752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4407408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4480560" y="4279392"/>
            <a:ext cx="1444752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4407408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PRODUCT_DETAIL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6327648" y="4279392"/>
            <a:ext cx="1444752" cy="4572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4407408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PRODUCT_LIST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8174736" y="4279392"/>
            <a:ext cx="1444752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4407408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PAGINATED_LIST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10021824" y="4279392"/>
            <a:ext cx="1444752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21824" y="4407408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CONTENT_LIST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6035040" y="3456432"/>
            <a:ext cx="0" cy="70408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68680" y="516636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implementation detail: classification consumes the SEO report's TechnicalSEOAnalyzer JSON-LD data, so structured-data extraction is shared between SEO and crawl routing.</a:t>
            </a:r>
            <a:endParaRPr lang="en-US" sz="10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List And Pagination Extraction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 TRAVERSAL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86384" y="1234440"/>
            <a:ext cx="2926080" cy="4526280"/>
          </a:xfrm>
          <a:prstGeom prst="roundRect">
            <a:avLst>
              <a:gd name="adj" fmla="val 1875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URL extraction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87552" y="1938528"/>
            <a:ext cx="2514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938528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0665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path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152144" y="23682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ItemList/Product JSON-LD URLs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987552" y="2871216"/>
            <a:ext cx="2514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2871216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29992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scan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152144" y="33009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prices, add-to-cart, stock, detail CTAs outside nav/header/footer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987552" y="3803904"/>
            <a:ext cx="2514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3803904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3931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pick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152144" y="4233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candidate links by selector and returns the largest unique set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4343400" y="132588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71416" y="14538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142646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pagination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4507992" y="17190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load_more, url, next_button, infinite_scroll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572000" y="2331720"/>
            <a:ext cx="1965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245973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243230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param/path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5559552" y="2843784"/>
            <a:ext cx="0" cy="173736"/>
          </a:xfrm>
          <a:prstGeom prst="line">
            <a:avLst/>
          </a:prstGeom>
          <a:noFill/>
          <a:ln w="1016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0" y="3081528"/>
            <a:ext cx="1965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3209544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182112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button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5559552" y="3593592"/>
            <a:ext cx="0" cy="173736"/>
          </a:xfrm>
          <a:prstGeom prst="line">
            <a:avLst/>
          </a:prstGeom>
          <a:noFill/>
          <a:ln w="1016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572000" y="3831336"/>
            <a:ext cx="1965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0016" y="395935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931920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more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5559552" y="4343400"/>
            <a:ext cx="0" cy="173736"/>
          </a:xfrm>
          <a:prstGeom prst="line">
            <a:avLst/>
          </a:prstGeom>
          <a:noFill/>
          <a:ln w="1016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72000" y="4581144"/>
            <a:ext cx="1965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470916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46817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Infinite scroll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6355080" y="1682496"/>
            <a:ext cx="112471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79792" y="1325880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07808" y="145389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08976" y="142646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page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7644384" y="171907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product URL set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458200" y="2039112"/>
            <a:ext cx="0" cy="267004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479792" y="4709160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07808" y="4837176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08976" y="480974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criteria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7644384" y="510235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max_pages, no new products,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redirect loop, missing control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9921240" y="196596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21240" y="1965960"/>
            <a:ext cx="73152" cy="96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85832" y="2093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pacing</a:t>
            </a:r>
            <a:endParaRPr lang="en-US" sz="1220" dirty="0"/>
          </a:p>
        </p:txBody>
      </p:sp>
      <p:sp>
        <p:nvSpPr>
          <p:cNvPr id="53" name="Text 51"/>
          <p:cNvSpPr/>
          <p:nvPr/>
        </p:nvSpPr>
        <p:spPr>
          <a:xfrm>
            <a:off x="10085832" y="2395728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45-60s between page scrapes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9921240" y="318211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21240" y="3182112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85832" y="3310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</a:t>
            </a:r>
            <a:endParaRPr lang="en-US" sz="1220" dirty="0"/>
          </a:p>
        </p:txBody>
      </p:sp>
      <p:sp>
        <p:nvSpPr>
          <p:cNvPr id="57" name="Text 55"/>
          <p:cNvSpPr/>
          <p:nvPr/>
        </p:nvSpPr>
        <p:spPr>
          <a:xfrm>
            <a:off x="10085832" y="3611880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strategy switches to next option</a:t>
            </a:r>
            <a:endParaRPr lang="en-US" sz="9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Detail Normalization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FIRST, DOM FALLBACK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86384" y="1325880"/>
            <a:ext cx="17830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538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42646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JSON-LD Product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950976" y="1719072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description, image, brand, sku, offers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569464" y="1847088"/>
            <a:ext cx="39319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26664" y="1325880"/>
            <a:ext cx="17830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4538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42646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Meta/itemprop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3191256" y="1719072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og:title, description, price, currency, image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809744" y="1847088"/>
            <a:ext cx="39319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66944" y="1325880"/>
            <a:ext cx="17830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45389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142646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area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5431536" y="1719072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image/h1/main anchor then climb DOM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050024" y="1847088"/>
            <a:ext cx="39319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07224" y="1325880"/>
            <a:ext cx="17830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45389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36408" y="142646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Tabs/details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671816" y="1719072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description, detail, specs, fiche technique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290304" y="1847088"/>
            <a:ext cx="39319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47504" y="1325880"/>
            <a:ext cx="17830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1453896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76688" y="142646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 fallback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9912096" y="1719072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TND/DT price and stock phrases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41248" y="3063240"/>
            <a:ext cx="1033272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record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1078992" y="37033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776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2926080" y="37033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3776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4773168" y="37033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776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6620256" y="37033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3776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currency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8467344" y="37033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67344" y="3776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1078992" y="427024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8992" y="434340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2926080" y="427024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434340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4773168" y="427024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434340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6620256" y="427024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0256" y="434340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8467344" y="427024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67344" y="434340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on_page_details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1051560" y="4663440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MarkdownConverter captures hidden or tabbed detail content as markdown for downstream enrichment and storage.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41248" y="583387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extraction status: the repo prepares structured product/context payloads for AI enrichment, but no active LLM prompt or provider call is implemented in scraper code.</a:t>
            </a:r>
            <a:endParaRPr lang="en-US" sz="10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Analysis Engine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BROWSER-OBSERVED SIGNALS PLUS STATIC ANALYSIS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1965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149961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47218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inputs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33272" y="176479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HTML, response headers,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assets, timing metrics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520440" y="100584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48456" y="11338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106424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OnPageAnalyzer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3685032" y="1399032"/>
            <a:ext cx="2807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titles, meta, headings, links, images, OG/Twitter, URL quality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834640" y="1792224"/>
            <a:ext cx="685800" cy="-32004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20440" y="2304288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8456" y="2432304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240487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TechnicalSEOAnalyzer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3685032" y="2697480"/>
            <a:ext cx="2807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doctype, charset, viewport, canonical, schema, mixed content, assets, performance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834640" y="1792224"/>
            <a:ext cx="685800" cy="97840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20440" y="3602736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48456" y="373075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9624" y="370332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ContentAnalyzer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3685032" y="3995928"/>
            <a:ext cx="2807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keywords, n-grams, readability, text/HTML ratio, spellcheck, intent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834640" y="1792224"/>
            <a:ext cx="685800" cy="2276856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43800" y="2057400"/>
            <a:ext cx="2331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71816" y="218541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72984" y="215798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ScoringModule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7708392" y="2450592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category scores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on_page, technical, content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overall_seo_score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583680" y="1472184"/>
            <a:ext cx="960120" cy="1133856"/>
          </a:xfrm>
          <a:prstGeom prst="line">
            <a:avLst/>
          </a:prstGeom>
          <a:noFill/>
          <a:ln w="1016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83680" y="2770632"/>
            <a:ext cx="960120" cy="-164592"/>
          </a:xfrm>
          <a:prstGeom prst="line">
            <a:avLst/>
          </a:prstGeom>
          <a:noFill/>
          <a:ln w="1016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83680" y="4069080"/>
            <a:ext cx="960120" cy="-1463040"/>
          </a:xfrm>
          <a:prstGeom prst="line">
            <a:avLst/>
          </a:prstGeom>
          <a:noFill/>
          <a:ln w="10160">
            <a:solidFill>
              <a:srgbClr val="C8D1C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49840" y="2057400"/>
            <a:ext cx="1280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77856" y="2185416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79024" y="215798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seo_report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0314432" y="2450592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payload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in result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9875520" y="2606040"/>
            <a:ext cx="27432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005840" y="4983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932688" y="54498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on-page weight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2331720" y="4983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2258568" y="54498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weight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3657600" y="4983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3584448" y="54498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weight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5257800" y="5074920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weights are configurable, while rule outputs retain issue/success strings that later power top-issue materialized views.</a:t>
            </a:r>
            <a:endParaRPr 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Scoring And Actionable Reporting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CHECKS TO PRIORITIZED FIXES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225296"/>
            <a:ext cx="3154680" cy="45262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481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score synthesis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965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874520" y="1993392"/>
            <a:ext cx="2078182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965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24128" y="2468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874520" y="2496312"/>
            <a:ext cx="831273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24688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4128" y="2971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on-page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874520" y="2999232"/>
            <a:ext cx="62345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2971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24128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1874520" y="3502152"/>
            <a:ext cx="41563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34747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4128" y="3977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874520" y="4005072"/>
            <a:ext cx="207818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39776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87552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adds breadcrumbs, lists, paragraph size, and link depth.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0" y="132588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14538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142646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competitor_seo_summary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4736592" y="171907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avg, median, stddev by competitor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572000" y="278892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9169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8895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competitor_gap_matrix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4736592" y="318211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pairwise SEO/content/on-page/technical/UX gaps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635240" y="132588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63256" y="1453896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64424" y="14264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competitor_top_issues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7799832" y="17190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expands JSON issues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and coverage ratios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635240" y="278892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63256" y="291693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64424" y="288950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competitor_action_plan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7799832" y="3182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critical/high/medium/low priorities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675120" y="1737360"/>
            <a:ext cx="96012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675120" y="3200400"/>
            <a:ext cx="96012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732520" y="2148840"/>
            <a:ext cx="0" cy="64008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72000" y="4709160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91032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logic lives in SQL views, not in Python: refresh cadence and consumer APIs are external responsibilities.</a:t>
            </a:r>
            <a:endParaRPr lang="en-US" sz="10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Storage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AND ANALYTICAL TABLES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4538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14264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competitors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2880360" y="132588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8376" y="14538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14264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scrape_jobs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937760" y="132588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5776" y="145389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14264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995160" y="132588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3176" y="145389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14264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page_snapshots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4937760" y="324612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5776" y="337413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334670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995160" y="324612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23176" y="3374136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334670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price_history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9052560" y="324612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0576" y="3374136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81744" y="334670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stock_history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2450592" y="1719072"/>
            <a:ext cx="429768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07992" y="1719072"/>
            <a:ext cx="429768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65392" y="1719072"/>
            <a:ext cx="429768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51576" y="2103120"/>
            <a:ext cx="0" cy="114300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65392" y="3639312"/>
            <a:ext cx="429768" cy="0"/>
          </a:xfrm>
          <a:prstGeom prst="line">
            <a:avLst/>
          </a:prstGeom>
          <a:noFill/>
          <a:ln w="1524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65392" y="3639312"/>
            <a:ext cx="2487168" cy="0"/>
          </a:xfrm>
          <a:prstGeom prst="line">
            <a:avLst/>
          </a:prstGeom>
          <a:noFill/>
          <a:ln w="1524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8680" y="452628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452628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46542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identity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1033272" y="495604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pages.url_hash, recent_content_hash, page_snapshots.text_hash enable dedupe and change tracking.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4160520" y="452628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60520" y="452628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25112" y="46542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 persistence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4325112" y="495604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page_snapshots stores SEO scalar fields plus seo_flags JSONB with scoring outputs.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7452360" y="452628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4526280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16952" y="46542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state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7616952" y="495604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price/stock on products plus append-only price and stock history.</a:t>
            </a:r>
            <a:endParaRPr lang="en-US" sz="910" dirty="0"/>
          </a:p>
        </p:txBody>
      </p:sp>
      <p:sp>
        <p:nvSpPr>
          <p:cNvPr id="46" name="Text 44"/>
          <p:cNvSpPr/>
          <p:nvPr/>
        </p:nvSpPr>
        <p:spPr>
          <a:xfrm>
            <a:off x="859536" y="58704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evolution is represented as standalone schema.sql through schema9.sql; no migration runner was detected.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 Intelligence Layer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 AND MATCHING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965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15910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56362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text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33272" y="185623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description,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specifications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834640" y="1883664"/>
            <a:ext cx="59436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1463040"/>
            <a:ext cx="1965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7016" y="15910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56362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3593592" y="185623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description_embedding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vector(768)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394960" y="1883664"/>
            <a:ext cx="59436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1463040"/>
            <a:ext cx="1965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59105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56362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153912" y="185623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 index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vector_cosine_ops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955280" y="1883664"/>
            <a:ext cx="59436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49640" y="1463040"/>
            <a:ext cx="1965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77656" y="159105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78824" y="156362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8714232" y="185623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products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fit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clusters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68680" y="30632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306324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31912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Detected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033272" y="349300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extension, vectorscale extension, HNSW index for product description embeddings.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4160520" y="30632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306324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25112" y="31912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comments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4325112" y="349300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schema references 1536-d embeddings for text-embedding-3-small and optional DiskANN.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7452360" y="30632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3063240"/>
            <a:ext cx="73152" cy="96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31912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detected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7616952" y="349300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Qdrant client, collection schema, or runtime embedding generation code exists in this repo.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914400" y="4892040"/>
            <a:ext cx="10012680" cy="676656"/>
          </a:xfrm>
          <a:prstGeom prst="roundRect">
            <a:avLst>
              <a:gd name="adj" fmla="val 8108"/>
            </a:avLst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5093208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tradeoff: Postgres keeps relational, JSONB, and vector predicates together; Qdrant would decouple vector scale but add sync and consistency work.</a:t>
            </a:r>
            <a:endParaRPr lang="en-US" sz="10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Competitor Category Scoring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CATALOG COVERAGE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920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154533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517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target_categories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33272" y="18105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hierarchy, keywords,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relevance_weight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88920" y="1810512"/>
            <a:ext cx="6400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1417320"/>
            <a:ext cx="1920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7016" y="154533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517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normalize_text()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3593592" y="18105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+ unaccent + trim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349240" y="1810512"/>
            <a:ext cx="6400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1417320"/>
            <a:ext cx="1920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54533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517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products.category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153912" y="18105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to active targets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909560" y="1810512"/>
            <a:ext cx="6400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49640" y="1417320"/>
            <a:ext cx="1920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77656" y="15453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78824" y="1517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competitor_scores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8714232" y="18105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+ depth + availability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005840" y="2971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3008376"/>
            <a:ext cx="45720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971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5935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31720" y="3630168"/>
            <a:ext cx="27432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35935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42153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4251960"/>
            <a:ext cx="18288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42153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75320" y="2880360"/>
            <a:ext cx="2286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28803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9912" y="30083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8439912" y="3310128"/>
            <a:ext cx="2011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strength is not just product count. Category relevance and stock availability are explicit scoring dimensions.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960120" y="52852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implementation uses exact normalized category matching. Embedding-assisted matching is a clear next step for misspellings, synonyms, and multilingual category trees.</a:t>
            </a:r>
            <a:endParaRPr lang="en-US" sz="10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Media Analytics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TIMESCALEDB-BACKED COMPETITOR ATTENTION SIGNALS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1248" y="132588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4538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42646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social_accounts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05840" y="1719072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enum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facebook, instagram, tiktok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807208" y="1719072"/>
            <a:ext cx="34747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54680" y="132588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2696" y="145389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142646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social_posts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3319272" y="1719072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publish_time,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likes, comments, shares, views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120640" y="1719072"/>
            <a:ext cx="34747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68112" y="132588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45389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7296" y="142646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detail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5632704" y="1719072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instagram_posts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media, audio, location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434072" y="1719072"/>
            <a:ext cx="347472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81544" y="132588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0" y="145389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142646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snapshots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946136" y="1719072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and account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hypertables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6012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278892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2916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TimescaleDB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124712" y="32186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create_hypertable on social_post_metrics and social_account_metrics; compression policies after 7 days.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370332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2788920"/>
            <a:ext cx="73152" cy="109728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2916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3867912" y="32186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metric retention policy at 90 days; account metrics compressed by account_id.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6446520" y="2788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278892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2916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611112" y="32186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GIN full-text index on social_posts text supports keyword and campaign analysis.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9281160" y="27889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54896" y="298094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418320" y="34930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AD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post_daily_metrics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60120" y="507492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score weights normalize reach, engagement rate, activity, and growth per platform, then roll up account scores by follower-weighted average.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Materialized Intelligence Views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AS ANALYTICAL APPLICATION LAYER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359152" cy="43434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444752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49303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07008" y="14173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" y="190195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01168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page_seo_scores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0976" y="2560320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2F4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6700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competitor_seo_summary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50976" y="3218688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328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competitor_top_issues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0976" y="3877056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2F4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98678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competitor_action_plan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20440" y="1234440"/>
            <a:ext cx="2359152" cy="43434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85032" y="144475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149303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95928" y="14173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39896" y="190195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1336" y="201168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page_performance_scores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39896" y="2560320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2F4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31336" y="26700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page_overall_scores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739896" y="3218688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31336" y="3328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competitor_page_scores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739896" y="3877056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2F4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1336" y="398678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page_type_scores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09360" y="1234440"/>
            <a:ext cx="2359152" cy="43434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144475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149303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84848" y="14173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28816" y="190195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01168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competitor_social_score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528816" y="2560320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2F4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26700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social_time_series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28816" y="3218688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3328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forecast_regression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528816" y="3877056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2F4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398678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forecast_momentum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098280" y="1234440"/>
            <a:ext cx="2359152" cy="43434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62872" y="144475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62872" y="149303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573768" y="14173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317736" y="190195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09176" y="201168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competitor_gap_matrix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317736" y="2560320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2F4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09176" y="26700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competitor_scores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317736" y="3218688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E8E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09176" y="33284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social_ai_analysis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317736" y="3877056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2F4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09176" y="398678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smoothed forecast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22960" y="5980176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encode repeatable business logic: rolling social momentum, forecast variants, competitor gaps, prioritized issues, and page type performance without adding Python reporting code.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And Scaling Decisions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COMPOSE TOPOLOGY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154533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517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docker-compose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33272" y="18105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redis, prometheus, worker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88920" y="1819656"/>
            <a:ext cx="54864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1417320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5576" y="1545336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517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7 Alpine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3502152" y="18105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append snapshot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6379 exposed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257800" y="1819656"/>
            <a:ext cx="54864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1417320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34456" y="154533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1517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5971032" y="18105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Dockerfile installs Chrome deps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Chromium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26680" y="1819656"/>
            <a:ext cx="54864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75320" y="1417320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03336" y="15453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04504" y="1517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8439912" y="18105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included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scrape config pending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68680" y="297180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" y="309981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2728" y="30906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worker.concurrency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2834640" y="3081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4389120" y="297180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44568" y="309981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0906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frontier.max_jobs_per_domain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6355080" y="3081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7909560" y="297180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5008" y="3099816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3608" y="30906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inflight_timeout_seconds</a:t>
            </a:r>
            <a:endParaRPr lang="en-US" sz="810" dirty="0"/>
          </a:p>
        </p:txBody>
      </p:sp>
      <p:sp>
        <p:nvSpPr>
          <p:cNvPr id="37" name="Text 35"/>
          <p:cNvSpPr/>
          <p:nvPr/>
        </p:nvSpPr>
        <p:spPr>
          <a:xfrm>
            <a:off x="9875520" y="3081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868680" y="3813048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4128" y="394106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52728" y="39319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retry_delay/backoff/max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2834640" y="39227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/ 2.0 / 300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4389120" y="3813048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44568" y="394106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9319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browser.proxy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6355080" y="39227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localhost:8888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7909560" y="3813048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65008" y="394106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93608" y="39319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shm_size</a:t>
            </a:r>
            <a:endParaRPr lang="en-US" sz="810" dirty="0"/>
          </a:p>
        </p:txBody>
      </p:sp>
      <p:sp>
        <p:nvSpPr>
          <p:cNvPr id="49" name="Text 47"/>
          <p:cNvSpPr/>
          <p:nvPr/>
        </p:nvSpPr>
        <p:spPr>
          <a:xfrm>
            <a:off x="9875520" y="39227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1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2gb</a:t>
            </a:r>
            <a:endParaRPr lang="en-US" sz="910" dirty="0"/>
          </a:p>
        </p:txBody>
      </p:sp>
      <p:sp>
        <p:nvSpPr>
          <p:cNvPr id="50" name="Text 48"/>
          <p:cNvSpPr/>
          <p:nvPr/>
        </p:nvSpPr>
        <p:spPr>
          <a:xfrm>
            <a:off x="868680" y="52303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describes process-level horizontal scaling and memory-bound browser concurrency; current implementation instead uses async worker tasks plus pooled Playwright browsers and contexts.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And Observability Patterns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384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8F"/>
                </a:solidFill>
              </a:rPr>
              <a:t>repo-derived architecture and 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PREVENTS CRAWLER DRIFT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34440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36245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 queue mutation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41832" y="1664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Lua scripts keep dedupe, queues, leases, retries, and DLQ consistent.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480560" y="1234440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234440"/>
            <a:ext cx="73152" cy="1024128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36245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recovery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45152" y="1664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inflight_timeouts ZSET enables bounded recovery without scanning all jobs.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8183880" y="1234440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234440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36245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Backoff retries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348472" y="1664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retry_schedule plus max_retries prevents hot-looping failed domains.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777240" y="2624328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2624328"/>
            <a:ext cx="73152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27523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recycling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41832" y="30540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or max_pages_per_context create fresh contexts.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4480560" y="2624328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624328"/>
            <a:ext cx="73152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27523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replacement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645152" y="30540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disconnected browser instances are restarted in background maintenance.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8183880" y="2624328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C8D1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2624328"/>
            <a:ext cx="73152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27523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F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webhook routing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348472" y="30540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webhooks are chosen by job_type for downstream consumers.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868680" y="5074920"/>
            <a:ext cx="10241280" cy="566928"/>
          </a:xfrm>
          <a:prstGeom prst="roundRect">
            <a:avLst>
              <a:gd name="adj" fmla="val 9677"/>
            </a:avLst>
          </a:prstGeom>
          <a:solidFill>
            <a:srgbClr val="1F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5257800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gaps: Prometheus service exists but no exporter code; Dockerfile references requirements.txt/worker.py while repo uses pyproject.toml/main.py; some tests reference stale package names.</a:t>
            </a:r>
            <a:endParaRPr lang="en-US" sz="9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Tradeoffs And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6345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1BC"/>
                </a:solidFill>
              </a:rPr>
              <a:t>19  scraper architecture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3232" y="111556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CE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scraper already separates crawl execution from intelligence modeling; the next step is to close persistence, embedding, and observability loops.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847088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2A3037"/>
          </a:solidFill>
          <a:ln w="8890">
            <a:solidFill>
              <a:srgbClr val="3E4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204825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16653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99032" y="201168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bridge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1399032" y="230428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7C1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webhook result payloads into pages, page_snapshots, products, price/stock history.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336792" y="1847088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2A3037"/>
          </a:solidFill>
          <a:ln w="8890">
            <a:solidFill>
              <a:srgbClr val="3E46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1384" y="204825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2116653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31152" y="201168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jobs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6931152" y="230428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7C1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product and page embeddings; add similarity/category matching queries.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04672" y="2926080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2A3037"/>
          </a:solidFill>
          <a:ln w="8890">
            <a:solidFill>
              <a:srgbClr val="3E46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312724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195645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99032" y="30906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enrichment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1399032" y="33832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7C1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prompt pipeline for product normalization, social summaries, and issue remediation text.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336792" y="2926080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2A3037"/>
          </a:solidFill>
          <a:ln w="8890">
            <a:solidFill>
              <a:srgbClr val="3E46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1384" y="312724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1384" y="3195645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31152" y="30906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Migrations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6931152" y="33832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7C1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standalone schema files with ordered migrations and validation.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04672" y="4005072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2A3037"/>
          </a:solidFill>
          <a:ln w="8890">
            <a:solidFill>
              <a:srgbClr val="3E46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" y="420624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27463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399032" y="416966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1399032" y="44622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7C1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worker/frontier/browser metrics to Prometheus and alert on DLQ/retry spikes.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336792" y="4005072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2A3037"/>
          </a:solidFill>
          <a:ln w="8890">
            <a:solidFill>
              <a:srgbClr val="3E46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1384" y="420624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4274637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31152" y="416966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Crawler hardening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6931152" y="446227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7C1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pools, budget keys, robots respect policy, and deeper anti-bot fingerprint control.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822960" y="60807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tradeoff: heuristic extraction and SQL intelligence keep the system inspectable; AI and vector layers should be added as explicit asynchronous enrichment stages, not hidden inside the crawler hot path.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Scraper Architecture Review</dc:title>
  <dc:subject>scraper repository architecture</dc:subject>
  <dc:creator>Codex</dc:creator>
  <cp:lastModifiedBy>Codex</cp:lastModifiedBy>
  <cp:revision>1</cp:revision>
  <dcterms:created xsi:type="dcterms:W3CDTF">2026-05-10T20:23:10Z</dcterms:created>
  <dcterms:modified xsi:type="dcterms:W3CDTF">2026-05-10T20:23:10Z</dcterms:modified>
</cp:coreProperties>
</file>